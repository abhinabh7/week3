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ial MT Pro Bold" charset="1" panose="020B0802020202020204"/>
      <p:regular r:id="rId29"/>
    </p:embeddedFont>
    <p:embeddedFont>
      <p:font typeface="Arial MT Pro" charset="1" panose="020B0502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435117" y="2215954"/>
            <a:ext cx="7744566" cy="5855093"/>
            <a:chOff x="0" y="0"/>
            <a:chExt cx="660400" cy="499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499280"/>
            </a:xfrm>
            <a:custGeom>
              <a:avLst/>
              <a:gdLst/>
              <a:ahLst/>
              <a:cxnLst/>
              <a:rect r="r" b="b" t="t" l="l"/>
              <a:pathLst>
                <a:path h="49928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1538"/>
                  </a:cubicBezTo>
                  <a:lnTo>
                    <a:pt x="660400" y="499280"/>
                  </a:lnTo>
                  <a:lnTo>
                    <a:pt x="0" y="499280"/>
                  </a:lnTo>
                  <a:lnTo>
                    <a:pt x="0" y="32167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9FC0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410380"/>
            </a:xfrm>
            <a:prstGeom prst="rect">
              <a:avLst/>
            </a:prstGeom>
          </p:spPr>
          <p:txBody>
            <a:bodyPr anchor="ctr" rtlCol="false" tIns="1091778" lIns="1091778" bIns="1091778" rIns="10917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8649" y="8579439"/>
            <a:ext cx="3590013" cy="678861"/>
            <a:chOff x="0" y="0"/>
            <a:chExt cx="214916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9162" cy="406400"/>
            </a:xfrm>
            <a:custGeom>
              <a:avLst/>
              <a:gdLst/>
              <a:ahLst/>
              <a:cxnLst/>
              <a:rect r="r" b="b" t="t" l="l"/>
              <a:pathLst>
                <a:path h="406400" w="2149162">
                  <a:moveTo>
                    <a:pt x="1945962" y="0"/>
                  </a:moveTo>
                  <a:cubicBezTo>
                    <a:pt x="2058186" y="0"/>
                    <a:pt x="2149162" y="90976"/>
                    <a:pt x="2149162" y="203200"/>
                  </a:cubicBezTo>
                  <a:cubicBezTo>
                    <a:pt x="2149162" y="315424"/>
                    <a:pt x="2058186" y="406400"/>
                    <a:pt x="194596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916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1469" y="5368325"/>
            <a:ext cx="3590013" cy="1700984"/>
            <a:chOff x="0" y="0"/>
            <a:chExt cx="945518" cy="447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518" cy="447996"/>
            </a:xfrm>
            <a:custGeom>
              <a:avLst/>
              <a:gdLst/>
              <a:ahLst/>
              <a:cxnLst/>
              <a:rect r="r" b="b" t="t" l="l"/>
              <a:pathLst>
                <a:path h="447996" w="945518">
                  <a:moveTo>
                    <a:pt x="60382" y="0"/>
                  </a:moveTo>
                  <a:lnTo>
                    <a:pt x="885136" y="0"/>
                  </a:lnTo>
                  <a:cubicBezTo>
                    <a:pt x="901150" y="0"/>
                    <a:pt x="916508" y="6362"/>
                    <a:pt x="927832" y="17686"/>
                  </a:cubicBezTo>
                  <a:cubicBezTo>
                    <a:pt x="939156" y="29010"/>
                    <a:pt x="945518" y="44368"/>
                    <a:pt x="945518" y="60382"/>
                  </a:cubicBezTo>
                  <a:lnTo>
                    <a:pt x="945518" y="387613"/>
                  </a:lnTo>
                  <a:cubicBezTo>
                    <a:pt x="945518" y="403628"/>
                    <a:pt x="939156" y="418986"/>
                    <a:pt x="927832" y="430310"/>
                  </a:cubicBezTo>
                  <a:cubicBezTo>
                    <a:pt x="916508" y="441634"/>
                    <a:pt x="901150" y="447996"/>
                    <a:pt x="885136" y="447996"/>
                  </a:cubicBezTo>
                  <a:lnTo>
                    <a:pt x="60382" y="447996"/>
                  </a:lnTo>
                  <a:cubicBezTo>
                    <a:pt x="44368" y="447996"/>
                    <a:pt x="29010" y="441634"/>
                    <a:pt x="17686" y="430310"/>
                  </a:cubicBezTo>
                  <a:cubicBezTo>
                    <a:pt x="6362" y="418986"/>
                    <a:pt x="0" y="403628"/>
                    <a:pt x="0" y="387613"/>
                  </a:cubicBezTo>
                  <a:lnTo>
                    <a:pt x="0" y="60382"/>
                  </a:lnTo>
                  <a:cubicBezTo>
                    <a:pt x="0" y="44368"/>
                    <a:pt x="6362" y="29010"/>
                    <a:pt x="17686" y="17686"/>
                  </a:cubicBezTo>
                  <a:cubicBezTo>
                    <a:pt x="29010" y="6362"/>
                    <a:pt x="44368" y="0"/>
                    <a:pt x="603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45518" cy="48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7229" y="8739336"/>
            <a:ext cx="359068" cy="359068"/>
          </a:xfrm>
          <a:custGeom>
            <a:avLst/>
            <a:gdLst/>
            <a:ahLst/>
            <a:cxnLst/>
            <a:rect r="r" b="b" t="t" l="l"/>
            <a:pathLst>
              <a:path h="359068" w="359068">
                <a:moveTo>
                  <a:pt x="0" y="0"/>
                </a:moveTo>
                <a:lnTo>
                  <a:pt x="359067" y="0"/>
                </a:lnTo>
                <a:lnTo>
                  <a:pt x="359067" y="359068"/>
                </a:lnTo>
                <a:lnTo>
                  <a:pt x="0" y="35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4636296" y="6443851"/>
            <a:ext cx="315472" cy="315472"/>
          </a:xfrm>
          <a:custGeom>
            <a:avLst/>
            <a:gdLst/>
            <a:ahLst/>
            <a:cxnLst/>
            <a:rect r="r" b="b" t="t" l="l"/>
            <a:pathLst>
              <a:path h="315472" w="315472">
                <a:moveTo>
                  <a:pt x="0" y="315472"/>
                </a:moveTo>
                <a:lnTo>
                  <a:pt x="315473" y="315472"/>
                </a:lnTo>
                <a:lnTo>
                  <a:pt x="315473" y="0"/>
                </a:lnTo>
                <a:lnTo>
                  <a:pt x="0" y="0"/>
                </a:lnTo>
                <a:lnTo>
                  <a:pt x="0" y="31547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3247" y="1983783"/>
            <a:ext cx="10090623" cy="187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2"/>
              </a:lnSpc>
            </a:pPr>
            <a:r>
              <a:rPr lang="en-US" sz="11078" spc="-542" b="true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Web Server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3247" y="3269089"/>
            <a:ext cx="9367566" cy="187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2"/>
              </a:lnSpc>
            </a:pPr>
            <a:r>
              <a:rPr lang="en-US" sz="11078" spc="-542" b="true">
                <a:solidFill>
                  <a:srgbClr val="9FC03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Configuration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04517" y="8709604"/>
            <a:ext cx="1723331" cy="34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Abhihabh Duwal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29516" y="5636201"/>
            <a:ext cx="2073334" cy="9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Apache and Nginx Web Server 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0753" y="5804984"/>
            <a:ext cx="3994457" cy="2706755"/>
            <a:chOff x="0" y="0"/>
            <a:chExt cx="945518" cy="640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5518" cy="640709"/>
            </a:xfrm>
            <a:custGeom>
              <a:avLst/>
              <a:gdLst/>
              <a:ahLst/>
              <a:cxnLst/>
              <a:rect r="r" b="b" t="t" l="l"/>
              <a:pathLst>
                <a:path h="640709" w="945518">
                  <a:moveTo>
                    <a:pt x="54269" y="0"/>
                  </a:moveTo>
                  <a:lnTo>
                    <a:pt x="891249" y="0"/>
                  </a:lnTo>
                  <a:cubicBezTo>
                    <a:pt x="905642" y="0"/>
                    <a:pt x="919446" y="5718"/>
                    <a:pt x="929623" y="15895"/>
                  </a:cubicBezTo>
                  <a:cubicBezTo>
                    <a:pt x="939800" y="26072"/>
                    <a:pt x="945518" y="39876"/>
                    <a:pt x="945518" y="54269"/>
                  </a:cubicBezTo>
                  <a:lnTo>
                    <a:pt x="945518" y="586441"/>
                  </a:lnTo>
                  <a:cubicBezTo>
                    <a:pt x="945518" y="616412"/>
                    <a:pt x="921221" y="640709"/>
                    <a:pt x="891249" y="640709"/>
                  </a:cubicBezTo>
                  <a:lnTo>
                    <a:pt x="54269" y="640709"/>
                  </a:lnTo>
                  <a:cubicBezTo>
                    <a:pt x="39876" y="640709"/>
                    <a:pt x="26072" y="634992"/>
                    <a:pt x="15895" y="624814"/>
                  </a:cubicBezTo>
                  <a:cubicBezTo>
                    <a:pt x="5718" y="614637"/>
                    <a:pt x="0" y="600833"/>
                    <a:pt x="0" y="586441"/>
                  </a:cubicBezTo>
                  <a:lnTo>
                    <a:pt x="0" y="54269"/>
                  </a:lnTo>
                  <a:cubicBezTo>
                    <a:pt x="0" y="39876"/>
                    <a:pt x="5718" y="26072"/>
                    <a:pt x="15895" y="15895"/>
                  </a:cubicBezTo>
                  <a:cubicBezTo>
                    <a:pt x="26072" y="5718"/>
                    <a:pt x="39876" y="0"/>
                    <a:pt x="542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5518" cy="678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5451706" y="7869282"/>
            <a:ext cx="351013" cy="351013"/>
          </a:xfrm>
          <a:custGeom>
            <a:avLst/>
            <a:gdLst/>
            <a:ahLst/>
            <a:cxnLst/>
            <a:rect r="r" b="b" t="t" l="l"/>
            <a:pathLst>
              <a:path h="351013" w="351013">
                <a:moveTo>
                  <a:pt x="0" y="351012"/>
                </a:moveTo>
                <a:lnTo>
                  <a:pt x="351013" y="351012"/>
                </a:lnTo>
                <a:lnTo>
                  <a:pt x="351013" y="0"/>
                </a:lnTo>
                <a:lnTo>
                  <a:pt x="0" y="0"/>
                </a:lnTo>
                <a:lnTo>
                  <a:pt x="0" y="351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69679" y="1856288"/>
            <a:ext cx="9948642" cy="169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9"/>
              </a:lnSpc>
            </a:pPr>
            <a:r>
              <a:rPr lang="en-US" b="true" sz="11078" spc="-54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5426" y="7266582"/>
            <a:ext cx="3150404" cy="95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Apache Web Server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74526" y="5838648"/>
            <a:ext cx="2306912" cy="1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7"/>
              </a:lnSpc>
              <a:spcBef>
                <a:spcPct val="0"/>
              </a:spcBef>
            </a:pPr>
            <a:r>
              <a:rPr lang="en-US" sz="77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44407" y="5804984"/>
            <a:ext cx="3994457" cy="2706755"/>
            <a:chOff x="0" y="0"/>
            <a:chExt cx="945518" cy="6407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5518" cy="640709"/>
            </a:xfrm>
            <a:custGeom>
              <a:avLst/>
              <a:gdLst/>
              <a:ahLst/>
              <a:cxnLst/>
              <a:rect r="r" b="b" t="t" l="l"/>
              <a:pathLst>
                <a:path h="640709" w="945518">
                  <a:moveTo>
                    <a:pt x="54269" y="0"/>
                  </a:moveTo>
                  <a:lnTo>
                    <a:pt x="891249" y="0"/>
                  </a:lnTo>
                  <a:cubicBezTo>
                    <a:pt x="905642" y="0"/>
                    <a:pt x="919446" y="5718"/>
                    <a:pt x="929623" y="15895"/>
                  </a:cubicBezTo>
                  <a:cubicBezTo>
                    <a:pt x="939800" y="26072"/>
                    <a:pt x="945518" y="39876"/>
                    <a:pt x="945518" y="54269"/>
                  </a:cubicBezTo>
                  <a:lnTo>
                    <a:pt x="945518" y="586441"/>
                  </a:lnTo>
                  <a:cubicBezTo>
                    <a:pt x="945518" y="616412"/>
                    <a:pt x="921221" y="640709"/>
                    <a:pt x="891249" y="640709"/>
                  </a:cubicBezTo>
                  <a:lnTo>
                    <a:pt x="54269" y="640709"/>
                  </a:lnTo>
                  <a:cubicBezTo>
                    <a:pt x="39876" y="640709"/>
                    <a:pt x="26072" y="634992"/>
                    <a:pt x="15895" y="624814"/>
                  </a:cubicBezTo>
                  <a:cubicBezTo>
                    <a:pt x="5718" y="614637"/>
                    <a:pt x="0" y="600833"/>
                    <a:pt x="0" y="586441"/>
                  </a:cubicBezTo>
                  <a:lnTo>
                    <a:pt x="0" y="54269"/>
                  </a:lnTo>
                  <a:cubicBezTo>
                    <a:pt x="0" y="39876"/>
                    <a:pt x="5718" y="26072"/>
                    <a:pt x="15895" y="15895"/>
                  </a:cubicBezTo>
                  <a:cubicBezTo>
                    <a:pt x="26072" y="5718"/>
                    <a:pt x="39876" y="0"/>
                    <a:pt x="542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45518" cy="678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10365360" y="7869282"/>
            <a:ext cx="351013" cy="351013"/>
          </a:xfrm>
          <a:custGeom>
            <a:avLst/>
            <a:gdLst/>
            <a:ahLst/>
            <a:cxnLst/>
            <a:rect r="r" b="b" t="t" l="l"/>
            <a:pathLst>
              <a:path h="351013" w="351013">
                <a:moveTo>
                  <a:pt x="0" y="351012"/>
                </a:moveTo>
                <a:lnTo>
                  <a:pt x="351013" y="351012"/>
                </a:lnTo>
                <a:lnTo>
                  <a:pt x="351013" y="0"/>
                </a:lnTo>
                <a:lnTo>
                  <a:pt x="0" y="0"/>
                </a:lnTo>
                <a:lnTo>
                  <a:pt x="0" y="351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69080" y="7266582"/>
            <a:ext cx="3150404" cy="95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Nginx Web Server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988180" y="5838648"/>
            <a:ext cx="2306912" cy="1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7"/>
              </a:lnSpc>
              <a:spcBef>
                <a:spcPct val="0"/>
              </a:spcBef>
            </a:pPr>
            <a:r>
              <a:rPr lang="en-US" sz="77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2789" y="5804984"/>
            <a:ext cx="3994457" cy="2706755"/>
            <a:chOff x="0" y="0"/>
            <a:chExt cx="945518" cy="6407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5518" cy="640709"/>
            </a:xfrm>
            <a:custGeom>
              <a:avLst/>
              <a:gdLst/>
              <a:ahLst/>
              <a:cxnLst/>
              <a:rect r="r" b="b" t="t" l="l"/>
              <a:pathLst>
                <a:path h="640709" w="945518">
                  <a:moveTo>
                    <a:pt x="54269" y="0"/>
                  </a:moveTo>
                  <a:lnTo>
                    <a:pt x="891249" y="0"/>
                  </a:lnTo>
                  <a:cubicBezTo>
                    <a:pt x="905642" y="0"/>
                    <a:pt x="919446" y="5718"/>
                    <a:pt x="929623" y="15895"/>
                  </a:cubicBezTo>
                  <a:cubicBezTo>
                    <a:pt x="939800" y="26072"/>
                    <a:pt x="945518" y="39876"/>
                    <a:pt x="945518" y="54269"/>
                  </a:cubicBezTo>
                  <a:lnTo>
                    <a:pt x="945518" y="586441"/>
                  </a:lnTo>
                  <a:cubicBezTo>
                    <a:pt x="945518" y="616412"/>
                    <a:pt x="921221" y="640709"/>
                    <a:pt x="891249" y="640709"/>
                  </a:cubicBezTo>
                  <a:lnTo>
                    <a:pt x="54269" y="640709"/>
                  </a:lnTo>
                  <a:cubicBezTo>
                    <a:pt x="39876" y="640709"/>
                    <a:pt x="26072" y="634992"/>
                    <a:pt x="15895" y="624814"/>
                  </a:cubicBezTo>
                  <a:cubicBezTo>
                    <a:pt x="5718" y="614637"/>
                    <a:pt x="0" y="600833"/>
                    <a:pt x="0" y="586441"/>
                  </a:cubicBezTo>
                  <a:lnTo>
                    <a:pt x="0" y="54269"/>
                  </a:lnTo>
                  <a:cubicBezTo>
                    <a:pt x="0" y="39876"/>
                    <a:pt x="5718" y="26072"/>
                    <a:pt x="15895" y="15895"/>
                  </a:cubicBezTo>
                  <a:cubicBezTo>
                    <a:pt x="26072" y="5718"/>
                    <a:pt x="39876" y="0"/>
                    <a:pt x="542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5518" cy="678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true" rot="0">
            <a:off x="15283742" y="7869282"/>
            <a:ext cx="351013" cy="351013"/>
          </a:xfrm>
          <a:custGeom>
            <a:avLst/>
            <a:gdLst/>
            <a:ahLst/>
            <a:cxnLst/>
            <a:rect r="r" b="b" t="t" l="l"/>
            <a:pathLst>
              <a:path h="351013" w="351013">
                <a:moveTo>
                  <a:pt x="0" y="351012"/>
                </a:moveTo>
                <a:lnTo>
                  <a:pt x="351013" y="351012"/>
                </a:lnTo>
                <a:lnTo>
                  <a:pt x="351013" y="0"/>
                </a:lnTo>
                <a:lnTo>
                  <a:pt x="0" y="0"/>
                </a:lnTo>
                <a:lnTo>
                  <a:pt x="0" y="3510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487462" y="7266582"/>
            <a:ext cx="3150404" cy="95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Nginx Reverse Proxy</a:t>
            </a:r>
          </a:p>
          <a:p>
            <a:pPr algn="l">
              <a:lnSpc>
                <a:spcPts val="3608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906562" y="5838648"/>
            <a:ext cx="2306912" cy="147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7"/>
              </a:lnSpc>
              <a:spcBef>
                <a:spcPct val="0"/>
              </a:spcBef>
            </a:pPr>
            <a:r>
              <a:rPr lang="en-US" sz="77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41880" y="1871251"/>
            <a:ext cx="6392782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612" spc="-372" b="true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Web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2554" y="3832860"/>
            <a:ext cx="14795917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Apache is an open-source w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eb server widely used for hosting dynamic and static websites.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It supports Virtual Hosts, allowing multiple websites to be hosted on a single server using different ports or domain names.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1823" y="4215620"/>
            <a:ext cx="10644354" cy="1855759"/>
          </a:xfrm>
          <a:custGeom>
            <a:avLst/>
            <a:gdLst/>
            <a:ahLst/>
            <a:cxnLst/>
            <a:rect r="r" b="b" t="t" l="l"/>
            <a:pathLst>
              <a:path h="1855759" w="10644354">
                <a:moveTo>
                  <a:pt x="0" y="0"/>
                </a:moveTo>
                <a:lnTo>
                  <a:pt x="10644354" y="0"/>
                </a:lnTo>
                <a:lnTo>
                  <a:pt x="10644354" y="1855760"/>
                </a:lnTo>
                <a:lnTo>
                  <a:pt x="0" y="1855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79002" y="2054206"/>
            <a:ext cx="8129997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612" spc="-372" b="true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1: Installation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3201" y="5689703"/>
            <a:ext cx="10761598" cy="773490"/>
          </a:xfrm>
          <a:custGeom>
            <a:avLst/>
            <a:gdLst/>
            <a:ahLst/>
            <a:cxnLst/>
            <a:rect r="r" b="b" t="t" l="l"/>
            <a:pathLst>
              <a:path h="773490" w="10761598">
                <a:moveTo>
                  <a:pt x="0" y="0"/>
                </a:moveTo>
                <a:lnTo>
                  <a:pt x="10761598" y="0"/>
                </a:lnTo>
                <a:lnTo>
                  <a:pt x="10761598" y="773490"/>
                </a:lnTo>
                <a:lnTo>
                  <a:pt x="0" y="77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12522" y="2054206"/>
            <a:ext cx="11462957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612" spc="-372" b="true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2: Port Configuration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042" y="4186737"/>
            <a:ext cx="14795917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</a:t>
            </a:r>
            <a:r>
              <a:rPr lang="en-US" b="true" sz="2799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 Modified: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/etc/apache2/ports.conf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6390" y="4661318"/>
            <a:ext cx="10535220" cy="964364"/>
          </a:xfrm>
          <a:custGeom>
            <a:avLst/>
            <a:gdLst/>
            <a:ahLst/>
            <a:cxnLst/>
            <a:rect r="r" b="b" t="t" l="l"/>
            <a:pathLst>
              <a:path h="964364" w="10535220">
                <a:moveTo>
                  <a:pt x="0" y="0"/>
                </a:moveTo>
                <a:lnTo>
                  <a:pt x="10535220" y="0"/>
                </a:lnTo>
                <a:lnTo>
                  <a:pt x="10535220" y="964364"/>
                </a:lnTo>
                <a:lnTo>
                  <a:pt x="0" y="96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612" spc="-372" b="true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3: Website Directory &amp; HTML Page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6817" y="5143500"/>
            <a:ext cx="10754366" cy="4382657"/>
          </a:xfrm>
          <a:custGeom>
            <a:avLst/>
            <a:gdLst/>
            <a:ahLst/>
            <a:cxnLst/>
            <a:rect r="r" b="b" t="t" l="l"/>
            <a:pathLst>
              <a:path h="4382657" w="10754366">
                <a:moveTo>
                  <a:pt x="0" y="0"/>
                </a:moveTo>
                <a:lnTo>
                  <a:pt x="10754366" y="0"/>
                </a:lnTo>
                <a:lnTo>
                  <a:pt x="10754366" y="4382657"/>
                </a:lnTo>
                <a:lnTo>
                  <a:pt x="0" y="438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4: Virtual Host Configuration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042" y="4186737"/>
            <a:ext cx="14795917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File: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/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etc/apache2/sites-available/apache-student.conf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0671" y="4382547"/>
            <a:ext cx="10446659" cy="1521905"/>
          </a:xfrm>
          <a:custGeom>
            <a:avLst/>
            <a:gdLst/>
            <a:ahLst/>
            <a:cxnLst/>
            <a:rect r="r" b="b" t="t" l="l"/>
            <a:pathLst>
              <a:path h="1521905" w="10446659">
                <a:moveTo>
                  <a:pt x="0" y="0"/>
                </a:moveTo>
                <a:lnTo>
                  <a:pt x="10446658" y="0"/>
                </a:lnTo>
                <a:lnTo>
                  <a:pt x="10446658" y="1521906"/>
                </a:lnTo>
                <a:lnTo>
                  <a:pt x="0" y="1521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5: Enable Site &amp; 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40893" y="3844557"/>
            <a:ext cx="8206213" cy="5128883"/>
          </a:xfrm>
          <a:custGeom>
            <a:avLst/>
            <a:gdLst/>
            <a:ahLst/>
            <a:cxnLst/>
            <a:rect r="r" b="b" t="t" l="l"/>
            <a:pathLst>
              <a:path h="5128883" w="8206213">
                <a:moveTo>
                  <a:pt x="0" y="0"/>
                </a:moveTo>
                <a:lnTo>
                  <a:pt x="8206214" y="0"/>
                </a:lnTo>
                <a:lnTo>
                  <a:pt x="8206214" y="5128883"/>
                </a:lnTo>
                <a:lnTo>
                  <a:pt x="0" y="5128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Apache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41880" y="1871251"/>
            <a:ext cx="6392782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612" spc="-372" b="true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Web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2554" y="3832860"/>
            <a:ext cx="14795917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Nginx is a high-performance w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eb server known for speed, scalability, and low memory usage.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It uses Server Blocks, similar to Apache Virtual Hosts.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9966" y="4618965"/>
            <a:ext cx="10648068" cy="1049071"/>
          </a:xfrm>
          <a:custGeom>
            <a:avLst/>
            <a:gdLst/>
            <a:ahLst/>
            <a:cxnLst/>
            <a:rect r="r" b="b" t="t" l="l"/>
            <a:pathLst>
              <a:path h="1049071" w="10648068">
                <a:moveTo>
                  <a:pt x="0" y="0"/>
                </a:moveTo>
                <a:lnTo>
                  <a:pt x="10648068" y="0"/>
                </a:lnTo>
                <a:lnTo>
                  <a:pt x="10648068" y="1049070"/>
                </a:lnTo>
                <a:lnTo>
                  <a:pt x="0" y="1049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1: Installation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3425" y="4720414"/>
            <a:ext cx="10801149" cy="846173"/>
          </a:xfrm>
          <a:custGeom>
            <a:avLst/>
            <a:gdLst/>
            <a:ahLst/>
            <a:cxnLst/>
            <a:rect r="r" b="b" t="t" l="l"/>
            <a:pathLst>
              <a:path h="846173" w="10801149">
                <a:moveTo>
                  <a:pt x="0" y="0"/>
                </a:moveTo>
                <a:lnTo>
                  <a:pt x="10801150" y="0"/>
                </a:lnTo>
                <a:lnTo>
                  <a:pt x="10801150" y="846172"/>
                </a:lnTo>
                <a:lnTo>
                  <a:pt x="0" y="846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2: Website Directory &amp; HTML Page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0931" y="5687242"/>
            <a:ext cx="10886137" cy="3467436"/>
          </a:xfrm>
          <a:custGeom>
            <a:avLst/>
            <a:gdLst/>
            <a:ahLst/>
            <a:cxnLst/>
            <a:rect r="r" b="b" t="t" l="l"/>
            <a:pathLst>
              <a:path h="3467436" w="10886137">
                <a:moveTo>
                  <a:pt x="0" y="0"/>
                </a:moveTo>
                <a:lnTo>
                  <a:pt x="10886138" y="0"/>
                </a:lnTo>
                <a:lnTo>
                  <a:pt x="10886138" y="3467437"/>
                </a:lnTo>
                <a:lnTo>
                  <a:pt x="0" y="3467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3: Server Block Configuration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042" y="4186737"/>
            <a:ext cx="14795917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</a:t>
            </a:r>
            <a:r>
              <a:rPr lang="en-US" b="true" sz="2799">
                <a:solidFill>
                  <a:srgbClr val="13222B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le: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/etc/nginx/sites-available/nginx-student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8389" y="4647840"/>
            <a:ext cx="12791223" cy="991320"/>
          </a:xfrm>
          <a:custGeom>
            <a:avLst/>
            <a:gdLst/>
            <a:ahLst/>
            <a:cxnLst/>
            <a:rect r="r" b="b" t="t" l="l"/>
            <a:pathLst>
              <a:path h="991320" w="12791223">
                <a:moveTo>
                  <a:pt x="0" y="0"/>
                </a:moveTo>
                <a:lnTo>
                  <a:pt x="12791222" y="0"/>
                </a:lnTo>
                <a:lnTo>
                  <a:pt x="12791222" y="991320"/>
                </a:lnTo>
                <a:lnTo>
                  <a:pt x="0" y="991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4: Enable Site &amp; Disable Default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514" y="3340365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801" y="2054206"/>
            <a:ext cx="16934399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Output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83845" y="1839080"/>
            <a:ext cx="9320310" cy="128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 Reverse Proxy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2554" y="3832860"/>
            <a:ext cx="14795917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Nginx is a high-performance w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eb server known for speed, scalability, and low memory usage.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It uses Server Blocks, similar to Apache Virtual Hosts.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2363" y="4785485"/>
            <a:ext cx="11778335" cy="758253"/>
          </a:xfrm>
          <a:custGeom>
            <a:avLst/>
            <a:gdLst/>
            <a:ahLst/>
            <a:cxnLst/>
            <a:rect r="r" b="b" t="t" l="l"/>
            <a:pathLst>
              <a:path h="758253" w="11778335">
                <a:moveTo>
                  <a:pt x="0" y="0"/>
                </a:moveTo>
                <a:lnTo>
                  <a:pt x="11778335" y="0"/>
                </a:lnTo>
                <a:lnTo>
                  <a:pt x="11778335" y="758254"/>
                </a:lnTo>
                <a:lnTo>
                  <a:pt x="0" y="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55" r="-2167" b="-26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48800" y="6824712"/>
            <a:ext cx="10039746" cy="1012781"/>
          </a:xfrm>
          <a:custGeom>
            <a:avLst/>
            <a:gdLst/>
            <a:ahLst/>
            <a:cxnLst/>
            <a:rect r="r" b="b" t="t" l="l"/>
            <a:pathLst>
              <a:path h="1012781" w="10039746">
                <a:moveTo>
                  <a:pt x="0" y="0"/>
                </a:moveTo>
                <a:lnTo>
                  <a:pt x="10039745" y="0"/>
                </a:lnTo>
                <a:lnTo>
                  <a:pt x="10039745" y="1012782"/>
                </a:lnTo>
                <a:lnTo>
                  <a:pt x="0" y="1012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9115" y="1806910"/>
            <a:ext cx="15609770" cy="24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1: Configure Apache to Run on Port 8080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9115" y="1806910"/>
            <a:ext cx="15609770" cy="46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2: Create Apache Backend Web Page</a:t>
            </a:r>
          </a:p>
          <a:p>
            <a:pPr algn="ctr">
              <a:lnSpc>
                <a:spcPts val="8982"/>
              </a:lnSpc>
            </a:pPr>
          </a:p>
          <a:p>
            <a:pPr algn="ctr">
              <a:lnSpc>
                <a:spcPts val="898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916784" y="4534595"/>
            <a:ext cx="10454432" cy="1217810"/>
          </a:xfrm>
          <a:custGeom>
            <a:avLst/>
            <a:gdLst/>
            <a:ahLst/>
            <a:cxnLst/>
            <a:rect r="r" b="b" t="t" l="l"/>
            <a:pathLst>
              <a:path h="1217810" w="10454432">
                <a:moveTo>
                  <a:pt x="0" y="0"/>
                </a:moveTo>
                <a:lnTo>
                  <a:pt x="10454432" y="0"/>
                </a:lnTo>
                <a:lnTo>
                  <a:pt x="10454432" y="1217810"/>
                </a:lnTo>
                <a:lnTo>
                  <a:pt x="0" y="1217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1472" y="4453592"/>
            <a:ext cx="10865057" cy="925722"/>
          </a:xfrm>
          <a:custGeom>
            <a:avLst/>
            <a:gdLst/>
            <a:ahLst/>
            <a:cxnLst/>
            <a:rect r="r" b="b" t="t" l="l"/>
            <a:pathLst>
              <a:path h="925722" w="10865057">
                <a:moveTo>
                  <a:pt x="0" y="0"/>
                </a:moveTo>
                <a:lnTo>
                  <a:pt x="10865056" y="0"/>
                </a:lnTo>
                <a:lnTo>
                  <a:pt x="10865056" y="925722"/>
                </a:lnTo>
                <a:lnTo>
                  <a:pt x="0" y="925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09836" y="5606361"/>
            <a:ext cx="9868329" cy="4169369"/>
          </a:xfrm>
          <a:custGeom>
            <a:avLst/>
            <a:gdLst/>
            <a:ahLst/>
            <a:cxnLst/>
            <a:rect r="r" b="b" t="t" l="l"/>
            <a:pathLst>
              <a:path h="4169369" w="9868329">
                <a:moveTo>
                  <a:pt x="0" y="0"/>
                </a:moveTo>
                <a:lnTo>
                  <a:pt x="9868328" y="0"/>
                </a:lnTo>
                <a:lnTo>
                  <a:pt x="9868328" y="4169369"/>
                </a:lnTo>
                <a:lnTo>
                  <a:pt x="0" y="4169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9115" y="1806910"/>
            <a:ext cx="15609770" cy="24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3: Create Nginx Reverse Proxy Configuration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698513"/>
            <a:ext cx="11301259" cy="889974"/>
          </a:xfrm>
          <a:custGeom>
            <a:avLst/>
            <a:gdLst/>
            <a:ahLst/>
            <a:cxnLst/>
            <a:rect r="r" b="b" t="t" l="l"/>
            <a:pathLst>
              <a:path h="889974" w="11301259">
                <a:moveTo>
                  <a:pt x="0" y="0"/>
                </a:moveTo>
                <a:lnTo>
                  <a:pt x="11301258" y="0"/>
                </a:lnTo>
                <a:lnTo>
                  <a:pt x="11301258" y="889974"/>
                </a:lnTo>
                <a:lnTo>
                  <a:pt x="0" y="8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588487"/>
            <a:ext cx="11301259" cy="805215"/>
          </a:xfrm>
          <a:custGeom>
            <a:avLst/>
            <a:gdLst/>
            <a:ahLst/>
            <a:cxnLst/>
            <a:rect r="r" b="b" t="t" l="l"/>
            <a:pathLst>
              <a:path h="805215" w="11301259">
                <a:moveTo>
                  <a:pt x="0" y="0"/>
                </a:moveTo>
                <a:lnTo>
                  <a:pt x="11301258" y="0"/>
                </a:lnTo>
                <a:lnTo>
                  <a:pt x="11301258" y="805215"/>
                </a:lnTo>
                <a:lnTo>
                  <a:pt x="0" y="805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7614" y="1019175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Nginx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9115" y="1806910"/>
            <a:ext cx="15609770" cy="24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82"/>
              </a:lnSpc>
            </a:pPr>
            <a:r>
              <a:rPr lang="en-US" b="true" sz="7612" spc="-372">
                <a:solidFill>
                  <a:srgbClr val="005B5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Step 4: Enable Reverse Proxy Configuration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7614" y="1469564"/>
            <a:ext cx="5872772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13222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2554" y="3832860"/>
            <a:ext cx="14795917" cy="3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Apache and Nginx web servers were successfully installed and configured on U</a:t>
            </a:r>
            <a:r>
              <a:rPr lang="en-US" sz="2799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buntu. Apache served a custom website on port 8081 using a Virtual Host, while Nginx served a website on port 9090 using a custom server block with the default site disabled. Additionally, Nginx was implemented as a reverse proxy on port 80 to forward requests to the Apache backend on port 8080, demonstrating efficient web server management and request handling.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7488" y="-17643158"/>
            <a:ext cx="23802975" cy="238029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96372" y="2455222"/>
            <a:ext cx="7095256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Any questions?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7488" y="-17643158"/>
            <a:ext cx="23802975" cy="238029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54841" y="6924941"/>
            <a:ext cx="10578318" cy="1568236"/>
            <a:chOff x="0" y="0"/>
            <a:chExt cx="14104424" cy="2090981"/>
          </a:xfrm>
        </p:grpSpPr>
        <p:grpSp>
          <p:nvGrpSpPr>
            <p:cNvPr name="Group 6" id="6"/>
            <p:cNvGrpSpPr/>
            <p:nvPr/>
          </p:nvGrpSpPr>
          <p:grpSpPr>
            <a:xfrm rot="-5400000">
              <a:off x="-229153" y="229153"/>
              <a:ext cx="1878505" cy="1420199"/>
              <a:chOff x="0" y="0"/>
              <a:chExt cx="660400" cy="4992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" cy="499280"/>
              </a:xfrm>
              <a:custGeom>
                <a:avLst/>
                <a:gdLst/>
                <a:ahLst/>
                <a:cxnLst/>
                <a:rect r="r" b="b" t="t" l="l"/>
                <a:pathLst>
                  <a:path h="49928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1538"/>
                    </a:cubicBezTo>
                    <a:lnTo>
                      <a:pt x="660400" y="499280"/>
                    </a:lnTo>
                    <a:lnTo>
                      <a:pt x="0" y="499280"/>
                    </a:lnTo>
                    <a:lnTo>
                      <a:pt x="0" y="32167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9FC03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88900"/>
                <a:ext cx="660400" cy="410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450041" y="229153"/>
              <a:ext cx="1878505" cy="1420199"/>
              <a:chOff x="0" y="0"/>
              <a:chExt cx="660400" cy="4992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0400" cy="499280"/>
              </a:xfrm>
              <a:custGeom>
                <a:avLst/>
                <a:gdLst/>
                <a:ahLst/>
                <a:cxnLst/>
                <a:rect r="r" b="b" t="t" l="l"/>
                <a:pathLst>
                  <a:path h="49928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1538"/>
                    </a:cubicBezTo>
                    <a:lnTo>
                      <a:pt x="660400" y="499280"/>
                    </a:lnTo>
                    <a:lnTo>
                      <a:pt x="0" y="499280"/>
                    </a:lnTo>
                    <a:lnTo>
                      <a:pt x="0" y="32167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9FC03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88900"/>
                <a:ext cx="660400" cy="410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060115" y="-286061"/>
              <a:ext cx="10044308" cy="2377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59"/>
                </a:lnSpc>
                <a:spcBef>
                  <a:spcPct val="0"/>
                </a:spcBef>
              </a:pPr>
              <a:r>
                <a:rPr lang="en-US" b="true" sz="9970">
                  <a:solidFill>
                    <a:srgbClr val="13222B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Thank you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96372" y="2455222"/>
            <a:ext cx="7095256" cy="116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8"/>
              </a:lnSpc>
            </a:pPr>
            <a:r>
              <a:rPr lang="en-US" b="true" sz="7612" spc="-372">
                <a:solidFill>
                  <a:srgbClr val="EFEFE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DAG-DxgwKcY</dc:identifier>
  <dcterms:modified xsi:type="dcterms:W3CDTF">2011-08-01T06:04:30Z</dcterms:modified>
  <cp:revision>1</cp:revision>
  <dc:title>Green Modern Brand Strategy Presentation 10 Page</dc:title>
</cp:coreProperties>
</file>